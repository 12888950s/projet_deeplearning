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9" r:id="rId6"/>
    <p:sldId id="261" r:id="rId7"/>
    <p:sldId id="259" r:id="rId8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freepik.com/" TargetMode="External"/><Relationship Id="rId7" Type="http://schemas.openxmlformats.org/officeDocument/2006/relationships/image" Target="../media/image5.png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tretch/>
        </p:blipFill>
        <p:spPr>
          <a:xfrm>
            <a:off x="5600880" y="2715840"/>
            <a:ext cx="4000320" cy="22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/>
          <p:cNvPicPr/>
          <p:nvPr/>
        </p:nvPicPr>
        <p:blipFill>
          <a:blip r:embed="rId3"/>
          <a:stretch/>
        </p:blipFill>
        <p:spPr>
          <a:xfrm>
            <a:off x="1295640" y="185040"/>
            <a:ext cx="3261960" cy="253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1;p2"/>
          <p:cNvPicPr/>
          <p:nvPr/>
        </p:nvPicPr>
        <p:blipFill>
          <a:blip r:embed="rId4"/>
          <a:stretch/>
        </p:blipFill>
        <p:spPr>
          <a:xfrm>
            <a:off x="338040" y="-438120"/>
            <a:ext cx="2409480" cy="23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Google Shape;12;p2"/>
          <p:cNvPicPr/>
          <p:nvPr/>
        </p:nvPicPr>
        <p:blipFill>
          <a:blip r:embed="rId5"/>
          <a:stretch/>
        </p:blipFill>
        <p:spPr>
          <a:xfrm rot="5400000">
            <a:off x="6911280" y="205920"/>
            <a:ext cx="4339440" cy="31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oogle Shape;13;p2"/>
          <p:cNvPicPr/>
          <p:nvPr/>
        </p:nvPicPr>
        <p:blipFill>
          <a:blip r:embed="rId6"/>
          <a:stretch/>
        </p:blipFill>
        <p:spPr>
          <a:xfrm rot="5400000">
            <a:off x="942120" y="2746440"/>
            <a:ext cx="1733400" cy="39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53280" y="1452600"/>
            <a:ext cx="7237080" cy="18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0" name="Google Shape;196;p22"/>
          <p:cNvPicPr/>
          <p:nvPr/>
        </p:nvPicPr>
        <p:blipFill>
          <a:blip r:embed="rId2"/>
          <a:stretch/>
        </p:blipFill>
        <p:spPr>
          <a:xfrm rot="18052800" flipH="1">
            <a:off x="7847280" y="-893520"/>
            <a:ext cx="1796040" cy="408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oogle Shape;197;p22"/>
          <p:cNvPicPr/>
          <p:nvPr/>
        </p:nvPicPr>
        <p:blipFill>
          <a:blip r:embed="rId3"/>
          <a:stretch/>
        </p:blipFill>
        <p:spPr>
          <a:xfrm rot="10800000">
            <a:off x="-203040" y="-309600"/>
            <a:ext cx="1571760" cy="203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oogle Shape;198;p22"/>
          <p:cNvPicPr/>
          <p:nvPr/>
        </p:nvPicPr>
        <p:blipFill>
          <a:blip r:embed="rId4"/>
          <a:stretch/>
        </p:blipFill>
        <p:spPr>
          <a:xfrm rot="16200000">
            <a:off x="5649840" y="3034800"/>
            <a:ext cx="1724040" cy="41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16" name="Google Shape;29;p4"/>
          <p:cNvPicPr/>
          <p:nvPr/>
        </p:nvPicPr>
        <p:blipFill>
          <a:blip r:embed="rId2"/>
          <a:stretch/>
        </p:blipFill>
        <p:spPr>
          <a:xfrm rot="5400000">
            <a:off x="7018560" y="-1769040"/>
            <a:ext cx="1733400" cy="394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Google Shape;30;p4"/>
          <p:cNvPicPr/>
          <p:nvPr/>
        </p:nvPicPr>
        <p:blipFill>
          <a:blip r:embed="rId3"/>
          <a:stretch/>
        </p:blipFill>
        <p:spPr>
          <a:xfrm rot="5400000">
            <a:off x="-2142360" y="1694520"/>
            <a:ext cx="3538080" cy="203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Google Shape;31;p4"/>
          <p:cNvPicPr/>
          <p:nvPr/>
        </p:nvPicPr>
        <p:blipFill>
          <a:blip r:embed="rId4"/>
          <a:stretch/>
        </p:blipFill>
        <p:spPr>
          <a:xfrm>
            <a:off x="8430840" y="2721240"/>
            <a:ext cx="1665720" cy="1613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961280" y="2057400"/>
            <a:ext cx="5220720" cy="60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961280" y="2718000"/>
            <a:ext cx="5220720" cy="143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1" name="Google Shape;353;p36"/>
          <p:cNvPicPr/>
          <p:nvPr/>
        </p:nvPicPr>
        <p:blipFill>
          <a:blip r:embed="rId2"/>
          <a:stretch/>
        </p:blipFill>
        <p:spPr>
          <a:xfrm rot="5400000">
            <a:off x="7175520" y="3103560"/>
            <a:ext cx="1947240" cy="18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oogle Shape;354;p36"/>
          <p:cNvPicPr/>
          <p:nvPr/>
        </p:nvPicPr>
        <p:blipFill>
          <a:blip r:embed="rId3"/>
          <a:stretch/>
        </p:blipFill>
        <p:spPr>
          <a:xfrm rot="10800000">
            <a:off x="7439400" y="-815400"/>
            <a:ext cx="2927160" cy="227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Google Shape;355;p36"/>
          <p:cNvPicPr/>
          <p:nvPr/>
        </p:nvPicPr>
        <p:blipFill>
          <a:blip r:embed="rId4"/>
          <a:stretch/>
        </p:blipFill>
        <p:spPr>
          <a:xfrm rot="7597200">
            <a:off x="6955560" y="1429920"/>
            <a:ext cx="2386440" cy="43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Google Shape;356;p36"/>
          <p:cNvPicPr/>
          <p:nvPr/>
        </p:nvPicPr>
        <p:blipFill>
          <a:blip r:embed="rId5"/>
          <a:stretch/>
        </p:blipFill>
        <p:spPr>
          <a:xfrm rot="18705000">
            <a:off x="7188120" y="-716760"/>
            <a:ext cx="1733400" cy="394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Google Shape;357;p36"/>
          <p:cNvPicPr/>
          <p:nvPr/>
        </p:nvPicPr>
        <p:blipFill>
          <a:blip r:embed="rId6"/>
          <a:stretch/>
        </p:blipFill>
        <p:spPr>
          <a:xfrm rot="3883200">
            <a:off x="209160" y="2630520"/>
            <a:ext cx="2568600" cy="147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Google Shape;358;p36"/>
          <p:cNvPicPr/>
          <p:nvPr/>
        </p:nvPicPr>
        <p:blipFill>
          <a:blip r:embed="rId2"/>
          <a:stretch/>
        </p:blipFill>
        <p:spPr>
          <a:xfrm rot="5400000">
            <a:off x="-1153080" y="3033000"/>
            <a:ext cx="1947240" cy="18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Google Shape;359;p36"/>
          <p:cNvPicPr/>
          <p:nvPr/>
        </p:nvPicPr>
        <p:blipFill>
          <a:blip r:embed="rId3"/>
          <a:stretch/>
        </p:blipFill>
        <p:spPr>
          <a:xfrm rot="10800000">
            <a:off x="-889560" y="-886320"/>
            <a:ext cx="2927160" cy="227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360;p36"/>
          <p:cNvPicPr/>
          <p:nvPr/>
        </p:nvPicPr>
        <p:blipFill>
          <a:blip r:embed="rId4"/>
          <a:stretch/>
        </p:blipFill>
        <p:spPr>
          <a:xfrm rot="7597200">
            <a:off x="-1372680" y="1359360"/>
            <a:ext cx="2386440" cy="43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361;p36"/>
          <p:cNvPicPr/>
          <p:nvPr/>
        </p:nvPicPr>
        <p:blipFill>
          <a:blip r:embed="rId5"/>
          <a:stretch/>
        </p:blipFill>
        <p:spPr>
          <a:xfrm rot="18705000">
            <a:off x="-1140120" y="-787680"/>
            <a:ext cx="1733400" cy="3947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1" name="Google Shape;390;p39"/>
          <p:cNvPicPr/>
          <p:nvPr/>
        </p:nvPicPr>
        <p:blipFill>
          <a:blip r:embed="rId2"/>
          <a:stretch/>
        </p:blipFill>
        <p:spPr>
          <a:xfrm rot="9160800">
            <a:off x="7533720" y="-626400"/>
            <a:ext cx="2001960" cy="455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391;p39"/>
          <p:cNvPicPr/>
          <p:nvPr/>
        </p:nvPicPr>
        <p:blipFill>
          <a:blip r:embed="rId3"/>
          <a:stretch/>
        </p:blipFill>
        <p:spPr>
          <a:xfrm rot="12740400">
            <a:off x="-1145880" y="1931760"/>
            <a:ext cx="2568600" cy="147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Google Shape;392;p39"/>
          <p:cNvPicPr/>
          <p:nvPr/>
        </p:nvPicPr>
        <p:blipFill>
          <a:blip r:embed="rId4"/>
          <a:stretch/>
        </p:blipFill>
        <p:spPr>
          <a:xfrm rot="16200000">
            <a:off x="31320" y="1470240"/>
            <a:ext cx="1392840" cy="134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393;p39"/>
          <p:cNvPicPr/>
          <p:nvPr/>
        </p:nvPicPr>
        <p:blipFill>
          <a:blip r:embed="rId5"/>
          <a:stretch/>
        </p:blipFill>
        <p:spPr>
          <a:xfrm rot="16200000">
            <a:off x="-1511640" y="3484080"/>
            <a:ext cx="4007880" cy="287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394;p39"/>
          <p:cNvPicPr/>
          <p:nvPr/>
        </p:nvPicPr>
        <p:blipFill>
          <a:blip r:embed="rId6"/>
          <a:stretch/>
        </p:blipFill>
        <p:spPr>
          <a:xfrm rot="10134600">
            <a:off x="8170920" y="1157040"/>
            <a:ext cx="1923840" cy="466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733480" y="539640"/>
            <a:ext cx="3677040" cy="99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Google Shape;464;p47"/>
          <p:cNvSpPr/>
          <p:nvPr/>
        </p:nvSpPr>
        <p:spPr>
          <a:xfrm>
            <a:off x="2733120" y="3270600"/>
            <a:ext cx="3677400" cy="75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CREDITS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including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  <a:hlinkClick r:id="rId3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9" name="Google Shape;465;p47"/>
          <p:cNvPicPr/>
          <p:nvPr/>
        </p:nvPicPr>
        <p:blipFill>
          <a:blip r:embed="rId4"/>
          <a:stretch/>
        </p:blipFill>
        <p:spPr>
          <a:xfrm rot="5400000">
            <a:off x="-590040" y="1290960"/>
            <a:ext cx="2786040" cy="216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466;p47"/>
          <p:cNvPicPr/>
          <p:nvPr/>
        </p:nvPicPr>
        <p:blipFill>
          <a:blip r:embed="rId5"/>
          <a:stretch/>
        </p:blipFill>
        <p:spPr>
          <a:xfrm rot="5400000">
            <a:off x="390240" y="192960"/>
            <a:ext cx="2057760" cy="199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467;p47"/>
          <p:cNvPicPr/>
          <p:nvPr/>
        </p:nvPicPr>
        <p:blipFill>
          <a:blip r:embed="rId6"/>
          <a:stretch/>
        </p:blipFill>
        <p:spPr>
          <a:xfrm rot="16200000">
            <a:off x="-988920" y="3092040"/>
            <a:ext cx="4033080" cy="289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Google Shape;468;p47"/>
          <p:cNvPicPr/>
          <p:nvPr/>
        </p:nvPicPr>
        <p:blipFill>
          <a:blip r:embed="rId7"/>
          <a:stretch/>
        </p:blipFill>
        <p:spPr>
          <a:xfrm rot="3547200">
            <a:off x="7590240" y="1978560"/>
            <a:ext cx="1674360" cy="381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469;p47"/>
          <p:cNvPicPr/>
          <p:nvPr/>
        </p:nvPicPr>
        <p:blipFill>
          <a:blip r:embed="rId8"/>
          <a:stretch/>
        </p:blipFill>
        <p:spPr>
          <a:xfrm rot="20934600">
            <a:off x="6798960" y="-791280"/>
            <a:ext cx="1769040" cy="4291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952560" y="1457280"/>
            <a:ext cx="723852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DM Serif Display"/>
              </a:rPr>
              <a:t>SkinCare AI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42960" y="3267000"/>
            <a:ext cx="606708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403C2823-349E-9C72-EB09-62E1AF7BE4F7}"/>
              </a:ext>
            </a:extLst>
          </p:cNvPr>
          <p:cNvSpPr txBox="1"/>
          <p:nvPr/>
        </p:nvSpPr>
        <p:spPr>
          <a:xfrm>
            <a:off x="892233" y="285552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>
                <a:solidFill>
                  <a:srgbClr val="4B5563"/>
                </a:solidFill>
                <a:latin typeface="Aptos"/>
              </a:rPr>
              <a:t>CNN-Based Preliminary Skin Disease Image Classification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7DEE533-8590-4465-78E3-A8F052DB48B5}"/>
              </a:ext>
            </a:extLst>
          </p:cNvPr>
          <p:cNvSpPr txBox="1"/>
          <p:nvPr/>
        </p:nvSpPr>
        <p:spPr>
          <a:xfrm>
            <a:off x="1092778" y="3309148"/>
            <a:ext cx="5399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2563EB"/>
                </a:solidFill>
                <a:latin typeface="Aptos"/>
              </a:rPr>
              <a:t>Deep Learning &amp; Computer Vision project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A1BDDC50-3AF1-5670-303F-363912170B05}"/>
              </a:ext>
            </a:extLst>
          </p:cNvPr>
          <p:cNvSpPr txBox="1"/>
          <p:nvPr/>
        </p:nvSpPr>
        <p:spPr>
          <a:xfrm>
            <a:off x="5942215" y="4549832"/>
            <a:ext cx="3657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dirty="0">
                <a:solidFill>
                  <a:srgbClr val="1F2937"/>
                </a:solidFill>
                <a:latin typeface="Aptos"/>
              </a:rPr>
              <a:t>Realized by : </a:t>
            </a:r>
            <a:r>
              <a:rPr sz="1500" b="1" dirty="0">
                <a:solidFill>
                  <a:srgbClr val="1F2937"/>
                </a:solidFill>
                <a:latin typeface="Aptos"/>
              </a:rPr>
              <a:t>Souha Guezguez</a:t>
            </a:r>
          </a:p>
        </p:txBody>
      </p:sp>
      <p:pic>
        <p:nvPicPr>
          <p:cNvPr id="6" name="Google Shape;75;p1" title="logo-polytechnique.png">
            <a:extLst>
              <a:ext uri="{FF2B5EF4-FFF2-40B4-BE49-F238E27FC236}">
                <a16:creationId xmlns:a16="http://schemas.microsoft.com/office/drawing/2014/main" id="{CF4C278C-380E-F39E-C335-A1B4A62F61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2503" r="12495"/>
          <a:stretch/>
        </p:blipFill>
        <p:spPr>
          <a:xfrm>
            <a:off x="6552552" y="205590"/>
            <a:ext cx="825575" cy="6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_0:slide_img_FjPfcj.jpg"/>
          <p:cNvPicPr/>
          <p:nvPr/>
        </p:nvPicPr>
        <p:blipFill>
          <a:blip r:embed="rId2"/>
          <a:stretch/>
        </p:blipFill>
        <p:spPr>
          <a:xfrm>
            <a:off x="5673499" y="1465044"/>
            <a:ext cx="2513569" cy="250444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Rectangle 47"/>
          <p:cNvSpPr/>
          <p:nvPr/>
        </p:nvSpPr>
        <p:spPr>
          <a:xfrm>
            <a:off x="1429200" y="392878"/>
            <a:ext cx="7714800" cy="35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r>
              <a:rPr lang="fr-FR" sz="2800" b="1" dirty="0" err="1">
                <a:solidFill>
                  <a:schemeClr val="bg2"/>
                </a:solidFill>
                <a:latin typeface="Aptos"/>
              </a:rPr>
              <a:t>Problem</a:t>
            </a:r>
            <a:r>
              <a:rPr lang="fr-FR" sz="2800" b="1" dirty="0">
                <a:solidFill>
                  <a:schemeClr val="bg2"/>
                </a:solidFill>
                <a:latin typeface="Aptos"/>
              </a:rPr>
              <a:t> </a:t>
            </a:r>
            <a:r>
              <a:rPr lang="fr-FR" sz="2800" b="1" dirty="0" err="1">
                <a:solidFill>
                  <a:schemeClr val="bg2"/>
                </a:solidFill>
                <a:latin typeface="Aptos"/>
              </a:rPr>
              <a:t>Statement</a:t>
            </a:r>
            <a:r>
              <a:rPr lang="fr-FR" sz="2800" b="1" dirty="0">
                <a:solidFill>
                  <a:schemeClr val="bg2"/>
                </a:solidFill>
                <a:latin typeface="Aptos"/>
              </a:rPr>
              <a:t>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9473" y="1284599"/>
            <a:ext cx="4002007" cy="21816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lang="fr-FR" sz="1400" b="1" dirty="0" err="1">
                <a:solidFill>
                  <a:srgbClr val="111827"/>
                </a:solidFill>
                <a:latin typeface="Aptos"/>
              </a:rPr>
              <a:t>Problem</a:t>
            </a:r>
            <a:r>
              <a:rPr lang="fr-FR" sz="1400" b="1" dirty="0">
                <a:solidFill>
                  <a:srgbClr val="111827"/>
                </a:solidFill>
                <a:latin typeface="Aptos"/>
              </a:rPr>
              <a:t> :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br>
              <a:rPr lang="en-US" dirty="0"/>
            </a:br>
            <a:r>
              <a:rPr lang="en-US" sz="1400" dirty="0"/>
              <a:t>Dermatological conditions can look visually similar.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lang="en-US" sz="1400" dirty="0"/>
              <a:t>Manual diagnosis requires medical expertise.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lang="en-US" sz="1400" dirty="0"/>
              <a:t>The project focuses on preliminary image classification, not medical diagnosis.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7F6849CA-2B91-42F4-5B44-CF36039BADED}"/>
              </a:ext>
            </a:extLst>
          </p:cNvPr>
          <p:cNvSpPr txBox="1"/>
          <p:nvPr/>
        </p:nvSpPr>
        <p:spPr>
          <a:xfrm>
            <a:off x="1009473" y="3486449"/>
            <a:ext cx="4389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Aptos"/>
              </a:rPr>
              <a:t>Objective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28727DD4-7E3E-5BD6-EAF6-914B49D41E63}"/>
              </a:ext>
            </a:extLst>
          </p:cNvPr>
          <p:cNvSpPr txBox="1"/>
          <p:nvPr/>
        </p:nvSpPr>
        <p:spPr>
          <a:xfrm>
            <a:off x="1009473" y="4027439"/>
            <a:ext cx="43891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sz="1400" dirty="0"/>
              <a:t>Classify a skin image into one of four selected classes.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_0:slide_img_jlnddj.jpg"/>
          <p:cNvPicPr/>
          <p:nvPr/>
        </p:nvPicPr>
        <p:blipFill>
          <a:blip r:embed="rId2"/>
          <a:stretch/>
        </p:blipFill>
        <p:spPr>
          <a:xfrm>
            <a:off x="5471845" y="1028598"/>
            <a:ext cx="3052955" cy="32837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Rectangle 51"/>
          <p:cNvSpPr/>
          <p:nvPr/>
        </p:nvSpPr>
        <p:spPr>
          <a:xfrm>
            <a:off x="619200" y="3333600"/>
            <a:ext cx="34761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3FD52D94-DCD4-2948-55D5-225FF05DD51D}"/>
              </a:ext>
            </a:extLst>
          </p:cNvPr>
          <p:cNvSpPr txBox="1"/>
          <p:nvPr/>
        </p:nvSpPr>
        <p:spPr>
          <a:xfrm>
            <a:off x="770559" y="381666"/>
            <a:ext cx="41148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chemeClr val="bg2"/>
                </a:solidFill>
                <a:latin typeface="Aptos"/>
              </a:rPr>
              <a:t>Selected classes</a:t>
            </a:r>
          </a:p>
        </p:txBody>
      </p:sp>
      <p:sp>
        <p:nvSpPr>
          <p:cNvPr id="5" name="Rounded Rectangle 13">
            <a:extLst>
              <a:ext uri="{FF2B5EF4-FFF2-40B4-BE49-F238E27FC236}">
                <a16:creationId xmlns:a16="http://schemas.microsoft.com/office/drawing/2014/main" id="{9D9F05D6-9C50-4795-7557-8A6BA55DC3D4}"/>
              </a:ext>
            </a:extLst>
          </p:cNvPr>
          <p:cNvSpPr/>
          <p:nvPr/>
        </p:nvSpPr>
        <p:spPr>
          <a:xfrm>
            <a:off x="861999" y="1332191"/>
            <a:ext cx="40233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958E93B7-1241-0BDF-1478-060FCE883265}"/>
              </a:ext>
            </a:extLst>
          </p:cNvPr>
          <p:cNvSpPr/>
          <p:nvPr/>
        </p:nvSpPr>
        <p:spPr>
          <a:xfrm>
            <a:off x="1044879" y="1451063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B715396B-9B0C-571B-9331-BF4986B1323F}"/>
              </a:ext>
            </a:extLst>
          </p:cNvPr>
          <p:cNvSpPr txBox="1"/>
          <p:nvPr/>
        </p:nvSpPr>
        <p:spPr>
          <a:xfrm>
            <a:off x="1319199" y="144191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Acne</a:t>
            </a:r>
          </a:p>
        </p:txBody>
      </p: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F6CFF037-31B8-E533-8F79-76A1D6F2FCDF}"/>
              </a:ext>
            </a:extLst>
          </p:cNvPr>
          <p:cNvSpPr/>
          <p:nvPr/>
        </p:nvSpPr>
        <p:spPr>
          <a:xfrm>
            <a:off x="861999" y="2017991"/>
            <a:ext cx="40233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17">
            <a:extLst>
              <a:ext uri="{FF2B5EF4-FFF2-40B4-BE49-F238E27FC236}">
                <a16:creationId xmlns:a16="http://schemas.microsoft.com/office/drawing/2014/main" id="{86340842-BCBE-529C-A14F-289F5B48ACD3}"/>
              </a:ext>
            </a:extLst>
          </p:cNvPr>
          <p:cNvSpPr/>
          <p:nvPr/>
        </p:nvSpPr>
        <p:spPr>
          <a:xfrm>
            <a:off x="1044879" y="2136863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2E989707-E8E9-9138-F964-40EB9C7A3FFD}"/>
              </a:ext>
            </a:extLst>
          </p:cNvPr>
          <p:cNvSpPr txBox="1"/>
          <p:nvPr/>
        </p:nvSpPr>
        <p:spPr>
          <a:xfrm>
            <a:off x="1319199" y="212771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Eczema</a:t>
            </a:r>
          </a:p>
        </p:txBody>
      </p:sp>
      <p:sp>
        <p:nvSpPr>
          <p:cNvPr id="11" name="Rounded Rectangle 19">
            <a:extLst>
              <a:ext uri="{FF2B5EF4-FFF2-40B4-BE49-F238E27FC236}">
                <a16:creationId xmlns:a16="http://schemas.microsoft.com/office/drawing/2014/main" id="{F05FC535-A031-B6E8-7E02-0FFF49210829}"/>
              </a:ext>
            </a:extLst>
          </p:cNvPr>
          <p:cNvSpPr/>
          <p:nvPr/>
        </p:nvSpPr>
        <p:spPr>
          <a:xfrm>
            <a:off x="861999" y="2703791"/>
            <a:ext cx="40233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20">
            <a:extLst>
              <a:ext uri="{FF2B5EF4-FFF2-40B4-BE49-F238E27FC236}">
                <a16:creationId xmlns:a16="http://schemas.microsoft.com/office/drawing/2014/main" id="{8C11597C-E8C0-4305-526A-57FA12DBB125}"/>
              </a:ext>
            </a:extLst>
          </p:cNvPr>
          <p:cNvSpPr/>
          <p:nvPr/>
        </p:nvSpPr>
        <p:spPr>
          <a:xfrm>
            <a:off x="1044879" y="2822663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21">
            <a:extLst>
              <a:ext uri="{FF2B5EF4-FFF2-40B4-BE49-F238E27FC236}">
                <a16:creationId xmlns:a16="http://schemas.microsoft.com/office/drawing/2014/main" id="{DC8C57CF-D312-2EE5-102B-EFF2D2B5BF0A}"/>
              </a:ext>
            </a:extLst>
          </p:cNvPr>
          <p:cNvSpPr txBox="1"/>
          <p:nvPr/>
        </p:nvSpPr>
        <p:spPr>
          <a:xfrm>
            <a:off x="1319199" y="281351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Psoriasis</a:t>
            </a:r>
          </a:p>
        </p:txBody>
      </p:sp>
      <p:sp>
        <p:nvSpPr>
          <p:cNvPr id="14" name="Rounded Rectangle 22">
            <a:extLst>
              <a:ext uri="{FF2B5EF4-FFF2-40B4-BE49-F238E27FC236}">
                <a16:creationId xmlns:a16="http://schemas.microsoft.com/office/drawing/2014/main" id="{6A399116-3051-A760-54BC-966CB2E606C0}"/>
              </a:ext>
            </a:extLst>
          </p:cNvPr>
          <p:cNvSpPr/>
          <p:nvPr/>
        </p:nvSpPr>
        <p:spPr>
          <a:xfrm>
            <a:off x="861999" y="3389591"/>
            <a:ext cx="40233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23">
            <a:extLst>
              <a:ext uri="{FF2B5EF4-FFF2-40B4-BE49-F238E27FC236}">
                <a16:creationId xmlns:a16="http://schemas.microsoft.com/office/drawing/2014/main" id="{AA1B7432-AC09-2C94-4705-B7BCABC5D156}"/>
              </a:ext>
            </a:extLst>
          </p:cNvPr>
          <p:cNvSpPr/>
          <p:nvPr/>
        </p:nvSpPr>
        <p:spPr>
          <a:xfrm>
            <a:off x="1044879" y="3508463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24">
            <a:extLst>
              <a:ext uri="{FF2B5EF4-FFF2-40B4-BE49-F238E27FC236}">
                <a16:creationId xmlns:a16="http://schemas.microsoft.com/office/drawing/2014/main" id="{B9D7C8B5-1807-19AF-D523-9066B80A5BC4}"/>
              </a:ext>
            </a:extLst>
          </p:cNvPr>
          <p:cNvSpPr txBox="1"/>
          <p:nvPr/>
        </p:nvSpPr>
        <p:spPr>
          <a:xfrm>
            <a:off x="1319199" y="3499319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Rosacea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994680" y="256062"/>
            <a:ext cx="7714800" cy="35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r>
              <a:rPr lang="fr-FR" sz="2800" b="1" dirty="0" err="1">
                <a:solidFill>
                  <a:schemeClr val="bg2"/>
                </a:solidFill>
                <a:latin typeface="Aptos"/>
              </a:rPr>
              <a:t>Dataset</a:t>
            </a:r>
            <a:r>
              <a:rPr lang="fr-FR" sz="2800" b="1" dirty="0">
                <a:solidFill>
                  <a:schemeClr val="bg2"/>
                </a:solidFill>
                <a:latin typeface="Aptos"/>
              </a:rPr>
              <a:t> &amp; </a:t>
            </a:r>
            <a:r>
              <a:rPr lang="fr-FR" sz="2800" b="1" dirty="0" err="1">
                <a:solidFill>
                  <a:schemeClr val="bg2"/>
                </a:solidFill>
                <a:latin typeface="Aptos"/>
              </a:rPr>
              <a:t>Preprocessing</a:t>
            </a:r>
            <a:endParaRPr lang="fr-FR" sz="2800" b="1" dirty="0">
              <a:solidFill>
                <a:schemeClr val="bg2"/>
              </a:solidFill>
              <a:latin typeface="Aptos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671F552C-5E70-714E-77A2-37F27D45D380}"/>
              </a:ext>
            </a:extLst>
          </p:cNvPr>
          <p:cNvSpPr txBox="1"/>
          <p:nvPr/>
        </p:nvSpPr>
        <p:spPr>
          <a:xfrm>
            <a:off x="1166657" y="852780"/>
            <a:ext cx="1920240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dirty="0">
                <a:solidFill>
                  <a:srgbClr val="111827"/>
                </a:solidFill>
                <a:latin typeface="Aptos"/>
              </a:rPr>
              <a:t>Dataset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D6B3332-0D22-F185-DE2E-BEE3C702D5FC}"/>
              </a:ext>
            </a:extLst>
          </p:cNvPr>
          <p:cNvSpPr txBox="1"/>
          <p:nvPr/>
        </p:nvSpPr>
        <p:spPr>
          <a:xfrm>
            <a:off x="1166657" y="1339792"/>
            <a:ext cx="7906459" cy="8386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/>
              <a:t>Skin Disease Dataset from Kaggle.</a:t>
            </a:r>
          </a:p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/>
              <a:t>Original dataset contained multiple classes.</a:t>
            </a:r>
          </a:p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/>
              <a:t>Four classes were selected for a focused classification task.</a:t>
            </a:r>
          </a:p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 err="1"/>
              <a:t>Unknown_Normal</a:t>
            </a:r>
            <a:r>
              <a:rPr sz="1050" dirty="0"/>
              <a:t> was excluded after visual inspection because it contained noisy non-skin images.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486754-601A-851A-4FCD-11BF1BCDB6A0}"/>
              </a:ext>
            </a:extLst>
          </p:cNvPr>
          <p:cNvSpPr txBox="1"/>
          <p:nvPr/>
        </p:nvSpPr>
        <p:spPr>
          <a:xfrm>
            <a:off x="1166657" y="2423121"/>
            <a:ext cx="1920240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dirty="0">
                <a:solidFill>
                  <a:srgbClr val="111827"/>
                </a:solidFill>
                <a:latin typeface="Aptos"/>
              </a:rPr>
              <a:t>Preprocessing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BB42A7-330E-5B97-613E-668403CE3D55}"/>
              </a:ext>
            </a:extLst>
          </p:cNvPr>
          <p:cNvSpPr txBox="1"/>
          <p:nvPr/>
        </p:nvSpPr>
        <p:spPr>
          <a:xfrm>
            <a:off x="1166657" y="2766021"/>
            <a:ext cx="7482752" cy="8386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/>
              <a:t>Images resized to 224 × 224 pixels.</a:t>
            </a:r>
          </a:p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/>
              <a:t>MobileNetV2 </a:t>
            </a:r>
            <a:r>
              <a:rPr sz="1050" dirty="0" err="1"/>
              <a:t>preprocess_input</a:t>
            </a:r>
            <a:r>
              <a:rPr sz="1050" dirty="0"/>
              <a:t> used.</a:t>
            </a:r>
          </a:p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/>
              <a:t>Training and validation subsets prepared from train folder.</a:t>
            </a:r>
          </a:p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/>
              <a:t>Test folder used only for final evaluation.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345F16A-736C-8EAD-E891-FC94DB2D13C0}"/>
              </a:ext>
            </a:extLst>
          </p:cNvPr>
          <p:cNvSpPr txBox="1"/>
          <p:nvPr/>
        </p:nvSpPr>
        <p:spPr>
          <a:xfrm>
            <a:off x="1166657" y="3743245"/>
            <a:ext cx="1988820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dirty="0">
                <a:solidFill>
                  <a:srgbClr val="111827"/>
                </a:solidFill>
                <a:latin typeface="Aptos"/>
              </a:rPr>
              <a:t>Why preprocessing?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1E0E2E0-73F6-B7AB-F0CF-83B0580D9C69}"/>
              </a:ext>
            </a:extLst>
          </p:cNvPr>
          <p:cNvSpPr txBox="1"/>
          <p:nvPr/>
        </p:nvSpPr>
        <p:spPr>
          <a:xfrm>
            <a:off x="1166657" y="4192250"/>
            <a:ext cx="5423048" cy="6129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/>
              <a:t>Standardizes input size.</a:t>
            </a:r>
          </a:p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/>
              <a:t>Matches the format expected by the pre-trained model.</a:t>
            </a:r>
          </a:p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sz="1050" dirty="0"/>
              <a:t>Improves training stability and reproducibility.</a:t>
            </a:r>
          </a:p>
        </p:txBody>
      </p:sp>
      <p:pic>
        <p:nvPicPr>
          <p:cNvPr id="15" name="Google Shape;346;g3e11ac746a2_0_12">
            <a:extLst>
              <a:ext uri="{FF2B5EF4-FFF2-40B4-BE49-F238E27FC236}">
                <a16:creationId xmlns:a16="http://schemas.microsoft.com/office/drawing/2014/main" id="{86787819-A131-1FFA-60B6-5EF8F5851FF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4680" y="852780"/>
            <a:ext cx="240000" cy="2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48;g3e11ac746a2_0_12" title="serpilliere.png">
            <a:extLst>
              <a:ext uri="{FF2B5EF4-FFF2-40B4-BE49-F238E27FC236}">
                <a16:creationId xmlns:a16="http://schemas.microsoft.com/office/drawing/2014/main" id="{09F48ECE-45CE-7E05-D5E0-D740BA36C9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80" y="2409608"/>
            <a:ext cx="269400" cy="2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48;g3e11ac746a2_0_12" title="serpilliere.png">
            <a:extLst>
              <a:ext uri="{FF2B5EF4-FFF2-40B4-BE49-F238E27FC236}">
                <a16:creationId xmlns:a16="http://schemas.microsoft.com/office/drawing/2014/main" id="{64550C79-9BF1-36BD-C68B-2B2951CA3B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500" y="3729732"/>
            <a:ext cx="269400" cy="2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A7EB-5585-A1ED-4E01-23384E444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5">
            <a:extLst>
              <a:ext uri="{FF2B5EF4-FFF2-40B4-BE49-F238E27FC236}">
                <a16:creationId xmlns:a16="http://schemas.microsoft.com/office/drawing/2014/main" id="{8DA18DE8-A2A7-54CB-FAA8-A7845A689381}"/>
              </a:ext>
            </a:extLst>
          </p:cNvPr>
          <p:cNvSpPr txBox="1"/>
          <p:nvPr/>
        </p:nvSpPr>
        <p:spPr>
          <a:xfrm>
            <a:off x="729748" y="162891"/>
            <a:ext cx="795527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chemeClr val="bg2"/>
                </a:solidFill>
                <a:latin typeface="Aptos"/>
              </a:rPr>
              <a:t>Models Tested</a:t>
            </a:r>
            <a:endParaRPr sz="2000" b="1" dirty="0">
              <a:solidFill>
                <a:schemeClr val="bg2"/>
              </a:solidFill>
              <a:latin typeface="Aptos"/>
            </a:endParaRPr>
          </a:p>
        </p:txBody>
      </p:sp>
      <p:pic>
        <p:nvPicPr>
          <p:cNvPr id="2" name="Google Shape;510;g3e128ab181c_0_0">
            <a:extLst>
              <a:ext uri="{FF2B5EF4-FFF2-40B4-BE49-F238E27FC236}">
                <a16:creationId xmlns:a16="http://schemas.microsoft.com/office/drawing/2014/main" id="{A2CBB239-1996-CB5C-5B28-3C8B8334A85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8973" y="196779"/>
            <a:ext cx="240000" cy="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8E493611-86BB-8A40-9553-6AC08D7DCC95}"/>
              </a:ext>
            </a:extLst>
          </p:cNvPr>
          <p:cNvSpPr txBox="1"/>
          <p:nvPr/>
        </p:nvSpPr>
        <p:spPr>
          <a:xfrm>
            <a:off x="1036320" y="757428"/>
            <a:ext cx="41681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11827"/>
                </a:solidFill>
                <a:latin typeface="Aptos"/>
              </a:rPr>
              <a:t>Simple CNN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34F94C21-5A7B-2B8E-5105-4ACE7727C32D}"/>
              </a:ext>
            </a:extLst>
          </p:cNvPr>
          <p:cNvSpPr txBox="1"/>
          <p:nvPr/>
        </p:nvSpPr>
        <p:spPr>
          <a:xfrm>
            <a:off x="1196340" y="1190381"/>
            <a:ext cx="8016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1F2937"/>
                </a:solidFill>
                <a:latin typeface="Aptos"/>
              </a:rPr>
              <a:t>Baseline model trained from scratch. Useful for comparison, but overfitting observed.</a:t>
            </a: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1AD8D238-1B61-74B1-D5CE-5EEED937EB91}"/>
              </a:ext>
            </a:extLst>
          </p:cNvPr>
          <p:cNvSpPr txBox="1"/>
          <p:nvPr/>
        </p:nvSpPr>
        <p:spPr>
          <a:xfrm>
            <a:off x="1036320" y="1600251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11827"/>
                </a:solidFill>
                <a:latin typeface="Aptos"/>
              </a:rPr>
              <a:t>Improved CNN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FD8F09FC-19BD-9AE7-F57F-C88A95C63966}"/>
              </a:ext>
            </a:extLst>
          </p:cNvPr>
          <p:cNvSpPr txBox="1"/>
          <p:nvPr/>
        </p:nvSpPr>
        <p:spPr>
          <a:xfrm>
            <a:off x="1196340" y="2167890"/>
            <a:ext cx="80848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1F2937"/>
                </a:solidFill>
                <a:latin typeface="Aptos"/>
              </a:rPr>
              <a:t>Added Dropout, Batch Normalization and callbacks. Performance decreased, showing poor generalization.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7E7EB220-05A4-AB7F-3A26-FFEF1BDA1C0D}"/>
              </a:ext>
            </a:extLst>
          </p:cNvPr>
          <p:cNvSpPr txBox="1"/>
          <p:nvPr/>
        </p:nvSpPr>
        <p:spPr>
          <a:xfrm>
            <a:off x="1036320" y="2571750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11827"/>
                </a:solidFill>
                <a:latin typeface="Aptos"/>
              </a:rPr>
              <a:t>MobileNetV2 TL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446B201A-1735-814A-641F-0D6B0459F3C2}"/>
              </a:ext>
            </a:extLst>
          </p:cNvPr>
          <p:cNvSpPr txBox="1"/>
          <p:nvPr/>
        </p:nvSpPr>
        <p:spPr>
          <a:xfrm>
            <a:off x="1196340" y="3093223"/>
            <a:ext cx="7589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1F2937"/>
                </a:solidFill>
                <a:latin typeface="Aptos"/>
              </a:rPr>
              <a:t>Frozen pre-trained backbone with a new classification head. Best and most stable model.</a:t>
            </a: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4330ABF1-08BC-9DF2-6629-3928A2EE3BC5}"/>
              </a:ext>
            </a:extLst>
          </p:cNvPr>
          <p:cNvSpPr txBox="1"/>
          <p:nvPr/>
        </p:nvSpPr>
        <p:spPr>
          <a:xfrm>
            <a:off x="1196340" y="3543249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11827"/>
                </a:solidFill>
                <a:latin typeface="Aptos"/>
              </a:rPr>
              <a:t>Fine-tuning</a:t>
            </a:r>
          </a:p>
        </p:txBody>
      </p:sp>
      <p:sp>
        <p:nvSpPr>
          <p:cNvPr id="12" name="TextBox 21">
            <a:extLst>
              <a:ext uri="{FF2B5EF4-FFF2-40B4-BE49-F238E27FC236}">
                <a16:creationId xmlns:a16="http://schemas.microsoft.com/office/drawing/2014/main" id="{5818C3CF-7B48-B6A5-C3C1-AC55BF41DCE6}"/>
              </a:ext>
            </a:extLst>
          </p:cNvPr>
          <p:cNvSpPr txBox="1"/>
          <p:nvPr/>
        </p:nvSpPr>
        <p:spPr>
          <a:xfrm>
            <a:off x="1196340" y="4203191"/>
            <a:ext cx="85877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1F2937"/>
                </a:solidFill>
                <a:latin typeface="Aptos"/>
              </a:rPr>
              <a:t>Last MobileNetV2 layers unfrozen with a small learning rate. Tested but slightly reduced performance.</a:t>
            </a:r>
          </a:p>
        </p:txBody>
      </p:sp>
    </p:spTree>
    <p:extLst>
      <p:ext uri="{BB962C8B-B14F-4D97-AF65-F5344CB8AC3E}">
        <p14:creationId xmlns:p14="http://schemas.microsoft.com/office/powerpoint/2010/main" val="374423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28346BAC-9EE8-AF66-EA2B-A47A9A669BD6}"/>
              </a:ext>
            </a:extLst>
          </p:cNvPr>
          <p:cNvSpPr txBox="1"/>
          <p:nvPr/>
        </p:nvSpPr>
        <p:spPr>
          <a:xfrm>
            <a:off x="1526842" y="59656"/>
            <a:ext cx="795527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chemeClr val="bg2"/>
                </a:solidFill>
                <a:latin typeface="Aptos"/>
              </a:rPr>
              <a:t>Results Comparison &amp; Model Selection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4686719-E78A-63AD-B949-DA369B4A4FC0}"/>
              </a:ext>
            </a:extLst>
          </p:cNvPr>
          <p:cNvSpPr txBox="1"/>
          <p:nvPr/>
        </p:nvSpPr>
        <p:spPr>
          <a:xfrm>
            <a:off x="1668780" y="392824"/>
            <a:ext cx="4754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1400" b="1" dirty="0">
                <a:solidFill>
                  <a:srgbClr val="111827"/>
                </a:solidFill>
                <a:latin typeface="Aptos"/>
              </a:rPr>
              <a:t>Test </a:t>
            </a:r>
            <a:r>
              <a:rPr lang="fr-FR" sz="1400" b="1" dirty="0" err="1">
                <a:solidFill>
                  <a:srgbClr val="111827"/>
                </a:solidFill>
                <a:latin typeface="Aptos"/>
              </a:rPr>
              <a:t>accuracy</a:t>
            </a:r>
            <a:r>
              <a:rPr lang="fr-FR" sz="1400" b="1" dirty="0">
                <a:solidFill>
                  <a:srgbClr val="111827"/>
                </a:solidFill>
                <a:latin typeface="Aptos"/>
              </a:rPr>
              <a:t> </a:t>
            </a:r>
            <a:r>
              <a:rPr lang="fr-FR" sz="1400" b="1" dirty="0" err="1">
                <a:solidFill>
                  <a:srgbClr val="111827"/>
                </a:solidFill>
                <a:latin typeface="Aptos"/>
              </a:rPr>
              <a:t>comparison</a:t>
            </a:r>
            <a:endParaRPr lang="fr-FR" sz="1400" b="1" dirty="0">
              <a:solidFill>
                <a:srgbClr val="111827"/>
              </a:solidFill>
              <a:latin typeface="Aptos"/>
            </a:endParaRP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BA9D66F8-4A49-F50A-CB76-DB5EFD6F5612}"/>
              </a:ext>
            </a:extLst>
          </p:cNvPr>
          <p:cNvGrpSpPr/>
          <p:nvPr/>
        </p:nvGrpSpPr>
        <p:grpSpPr>
          <a:xfrm>
            <a:off x="1814512" y="800882"/>
            <a:ext cx="3853815" cy="2237613"/>
            <a:chOff x="822960" y="1810512"/>
            <a:chExt cx="5623560" cy="2304288"/>
          </a:xfrm>
        </p:grpSpPr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A13A45A2-8162-365F-3C87-D5487F293897}"/>
                </a:ext>
              </a:extLst>
            </p:cNvPr>
            <p:cNvSpPr txBox="1"/>
            <p:nvPr/>
          </p:nvSpPr>
          <p:spPr>
            <a:xfrm>
              <a:off x="822960" y="1828800"/>
              <a:ext cx="173736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 dirty="0">
                  <a:solidFill>
                    <a:srgbClr val="1F2937"/>
                  </a:solidFill>
                  <a:latin typeface="Aptos"/>
                </a:rPr>
                <a:t>Simple CNN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0643236-EE6B-D6C2-749D-0A679E49A63F}"/>
                </a:ext>
              </a:extLst>
            </p:cNvPr>
            <p:cNvSpPr/>
            <p:nvPr/>
          </p:nvSpPr>
          <p:spPr>
            <a:xfrm>
              <a:off x="2697479" y="1828800"/>
              <a:ext cx="2926080" cy="228600"/>
            </a:xfrm>
            <a:prstGeom prst="rect">
              <a:avLst/>
            </a:prstGeom>
            <a:solidFill>
              <a:srgbClr val="EEF2FF"/>
            </a:solidFill>
            <a:ln w="12700">
              <a:solidFill>
                <a:srgbClr val="EEF2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43E6B9B-FA14-AAB2-F92D-718FCD2B76AC}"/>
                </a:ext>
              </a:extLst>
            </p:cNvPr>
            <p:cNvSpPr/>
            <p:nvPr/>
          </p:nvSpPr>
          <p:spPr>
            <a:xfrm>
              <a:off x="2697479" y="1828800"/>
              <a:ext cx="2024067" cy="22860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10">
              <a:extLst>
                <a:ext uri="{FF2B5EF4-FFF2-40B4-BE49-F238E27FC236}">
                  <a16:creationId xmlns:a16="http://schemas.microsoft.com/office/drawing/2014/main" id="{8EABBAB2-CBA9-5CF0-4399-29E88E647CAD}"/>
                </a:ext>
              </a:extLst>
            </p:cNvPr>
            <p:cNvSpPr txBox="1"/>
            <p:nvPr/>
          </p:nvSpPr>
          <p:spPr>
            <a:xfrm>
              <a:off x="5715000" y="1810512"/>
              <a:ext cx="73152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111827"/>
                  </a:solidFill>
                  <a:latin typeface="Aptos"/>
                </a:rPr>
                <a:t>51.88%</a:t>
              </a:r>
            </a:p>
          </p:txBody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B74F7EA0-D27E-AFAB-5E03-261AE973356F}"/>
                </a:ext>
              </a:extLst>
            </p:cNvPr>
            <p:cNvSpPr txBox="1"/>
            <p:nvPr/>
          </p:nvSpPr>
          <p:spPr>
            <a:xfrm>
              <a:off x="822960" y="2514600"/>
              <a:ext cx="173736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 dirty="0">
                  <a:solidFill>
                    <a:srgbClr val="1F2937"/>
                  </a:solidFill>
                  <a:latin typeface="Aptos"/>
                </a:rPr>
                <a:t>CNN + Dropout + BN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0C202BE-058A-0084-79BF-010519EEB1FD}"/>
                </a:ext>
              </a:extLst>
            </p:cNvPr>
            <p:cNvSpPr/>
            <p:nvPr/>
          </p:nvSpPr>
          <p:spPr>
            <a:xfrm>
              <a:off x="2697479" y="2514600"/>
              <a:ext cx="2926080" cy="228600"/>
            </a:xfrm>
            <a:prstGeom prst="rect">
              <a:avLst/>
            </a:prstGeom>
            <a:solidFill>
              <a:srgbClr val="EEF2FF"/>
            </a:solidFill>
            <a:ln w="12700">
              <a:solidFill>
                <a:srgbClr val="EEF2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02066BB-DD6F-52F7-DE32-E21E66520373}"/>
                </a:ext>
              </a:extLst>
            </p:cNvPr>
            <p:cNvSpPr/>
            <p:nvPr/>
          </p:nvSpPr>
          <p:spPr>
            <a:xfrm>
              <a:off x="2697479" y="2514600"/>
              <a:ext cx="945318" cy="22860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6449F65D-8FA2-8033-12A2-3B5C0D4BAC14}"/>
                </a:ext>
              </a:extLst>
            </p:cNvPr>
            <p:cNvSpPr txBox="1"/>
            <p:nvPr/>
          </p:nvSpPr>
          <p:spPr>
            <a:xfrm>
              <a:off x="5715000" y="2496312"/>
              <a:ext cx="73152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111827"/>
                  </a:solidFill>
                  <a:latin typeface="Aptos"/>
                </a:rPr>
                <a:t>24.23%</a:t>
              </a:r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F6B7A996-AF0B-8F23-EA1E-76A57FD2222D}"/>
                </a:ext>
              </a:extLst>
            </p:cNvPr>
            <p:cNvSpPr txBox="1"/>
            <p:nvPr/>
          </p:nvSpPr>
          <p:spPr>
            <a:xfrm>
              <a:off x="822960" y="3200400"/>
              <a:ext cx="173736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1F2937"/>
                  </a:solidFill>
                  <a:latin typeface="Aptos"/>
                </a:rPr>
                <a:t>MobileNetV2 TL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2A3B5F6-8BFB-1B3C-82F5-A6C23AA59845}"/>
                </a:ext>
              </a:extLst>
            </p:cNvPr>
            <p:cNvSpPr/>
            <p:nvPr/>
          </p:nvSpPr>
          <p:spPr>
            <a:xfrm>
              <a:off x="2697479" y="3200400"/>
              <a:ext cx="2926080" cy="228600"/>
            </a:xfrm>
            <a:prstGeom prst="rect">
              <a:avLst/>
            </a:prstGeom>
            <a:solidFill>
              <a:srgbClr val="EEF2FF"/>
            </a:solidFill>
            <a:ln w="12700">
              <a:solidFill>
                <a:srgbClr val="EEF2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EAAACD7-9DA8-3C13-525C-BCA7EAB2124D}"/>
                </a:ext>
              </a:extLst>
            </p:cNvPr>
            <p:cNvSpPr/>
            <p:nvPr/>
          </p:nvSpPr>
          <p:spPr>
            <a:xfrm>
              <a:off x="2697479" y="3200400"/>
              <a:ext cx="2756367" cy="228600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B2DA8FD9-7080-018D-5FE7-C55FB0666160}"/>
                </a:ext>
              </a:extLst>
            </p:cNvPr>
            <p:cNvSpPr txBox="1"/>
            <p:nvPr/>
          </p:nvSpPr>
          <p:spPr>
            <a:xfrm>
              <a:off x="5715000" y="3182112"/>
              <a:ext cx="73152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111827"/>
                  </a:solidFill>
                  <a:latin typeface="Aptos"/>
                </a:rPr>
                <a:t>70.65%</a:t>
              </a:r>
            </a:p>
          </p:txBody>
        </p:sp>
        <p:sp>
          <p:nvSpPr>
            <p:cNvPr id="33" name="TextBox 19">
              <a:extLst>
                <a:ext uri="{FF2B5EF4-FFF2-40B4-BE49-F238E27FC236}">
                  <a16:creationId xmlns:a16="http://schemas.microsoft.com/office/drawing/2014/main" id="{1DBFAFF1-121D-54F5-1904-A189A48DE656}"/>
                </a:ext>
              </a:extLst>
            </p:cNvPr>
            <p:cNvSpPr txBox="1"/>
            <p:nvPr/>
          </p:nvSpPr>
          <p:spPr>
            <a:xfrm>
              <a:off x="822960" y="3886200"/>
              <a:ext cx="173736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1F2937"/>
                  </a:solidFill>
                  <a:latin typeface="Aptos"/>
                </a:rPr>
                <a:t>Fine-tuning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B42473A-7B7F-7D2B-80D7-B17585024BA9}"/>
                </a:ext>
              </a:extLst>
            </p:cNvPr>
            <p:cNvSpPr/>
            <p:nvPr/>
          </p:nvSpPr>
          <p:spPr>
            <a:xfrm>
              <a:off x="2697479" y="3886200"/>
              <a:ext cx="2926080" cy="228600"/>
            </a:xfrm>
            <a:prstGeom prst="rect">
              <a:avLst/>
            </a:prstGeom>
            <a:solidFill>
              <a:srgbClr val="EEF2FF"/>
            </a:solidFill>
            <a:ln w="12700">
              <a:solidFill>
                <a:srgbClr val="EEF2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082A8B8-1ECF-3E64-6ABE-8A23AE6798B7}"/>
                </a:ext>
              </a:extLst>
            </p:cNvPr>
            <p:cNvSpPr/>
            <p:nvPr/>
          </p:nvSpPr>
          <p:spPr>
            <a:xfrm>
              <a:off x="2697479" y="3886200"/>
              <a:ext cx="2613964" cy="22860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094AC781-C89A-93C8-5240-F446F8E7C67D}"/>
                </a:ext>
              </a:extLst>
            </p:cNvPr>
            <p:cNvSpPr txBox="1"/>
            <p:nvPr/>
          </p:nvSpPr>
          <p:spPr>
            <a:xfrm>
              <a:off x="5715000" y="3867912"/>
              <a:ext cx="73152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111827"/>
                  </a:solidFill>
                  <a:latin typeface="Aptos"/>
                </a:rPr>
                <a:t>67.00%</a:t>
              </a:r>
            </a:p>
          </p:txBody>
        </p:sp>
      </p:grpSp>
      <p:sp>
        <p:nvSpPr>
          <p:cNvPr id="38" name="TextBox 24">
            <a:extLst>
              <a:ext uri="{FF2B5EF4-FFF2-40B4-BE49-F238E27FC236}">
                <a16:creationId xmlns:a16="http://schemas.microsoft.com/office/drawing/2014/main" id="{95E517E9-C3F0-299E-D2D4-674BB6738DD3}"/>
              </a:ext>
            </a:extLst>
          </p:cNvPr>
          <p:cNvSpPr txBox="1"/>
          <p:nvPr/>
        </p:nvSpPr>
        <p:spPr>
          <a:xfrm>
            <a:off x="1526842" y="3198654"/>
            <a:ext cx="35661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chemeClr val="bg2"/>
                </a:solidFill>
                <a:latin typeface="Aptos"/>
              </a:rPr>
              <a:t>Final model selected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E000EBFC-919A-FCA4-E3CA-7F91B94A5396}"/>
              </a:ext>
            </a:extLst>
          </p:cNvPr>
          <p:cNvSpPr txBox="1"/>
          <p:nvPr/>
        </p:nvSpPr>
        <p:spPr>
          <a:xfrm>
            <a:off x="1526842" y="3563102"/>
            <a:ext cx="679323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11827"/>
                </a:solidFill>
                <a:latin typeface="Aptos"/>
              </a:rPr>
              <a:t>MobileNetV2 Transfer Learning — Phase 1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6395C0EB-1B52-1F08-3D88-48BCAAA366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3122454"/>
            <a:ext cx="322421" cy="322421"/>
          </a:xfrm>
          <a:prstGeom prst="rect">
            <a:avLst/>
          </a:prstGeom>
        </p:spPr>
      </p:pic>
      <p:sp>
        <p:nvSpPr>
          <p:cNvPr id="44" name="TextBox 26">
            <a:extLst>
              <a:ext uri="{FF2B5EF4-FFF2-40B4-BE49-F238E27FC236}">
                <a16:creationId xmlns:a16="http://schemas.microsoft.com/office/drawing/2014/main" id="{6EE9D65A-4196-200E-AAA6-083482CDD145}"/>
              </a:ext>
            </a:extLst>
          </p:cNvPr>
          <p:cNvSpPr txBox="1"/>
          <p:nvPr/>
        </p:nvSpPr>
        <p:spPr>
          <a:xfrm>
            <a:off x="1668780" y="3966503"/>
            <a:ext cx="8215328" cy="10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dirty="0"/>
              <a:t>Best test accuracy: 70.65%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dirty="0"/>
              <a:t>Macro F1-score: 0.72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dirty="0"/>
              <a:t>Weighted F1-score: 0.70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F2937"/>
                </a:solidFill>
              </a:defRPr>
            </a:pPr>
            <a:r>
              <a:rPr dirty="0"/>
              <a:t>Fine-tuning was tested, but did not improve the final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5">
            <a:extLst>
              <a:ext uri="{FF2B5EF4-FFF2-40B4-BE49-F238E27FC236}">
                <a16:creationId xmlns:a16="http://schemas.microsoft.com/office/drawing/2014/main" id="{7D20B81A-0483-CEB4-3D09-4753D9FBCDD5}"/>
              </a:ext>
            </a:extLst>
          </p:cNvPr>
          <p:cNvSpPr txBox="1"/>
          <p:nvPr/>
        </p:nvSpPr>
        <p:spPr>
          <a:xfrm>
            <a:off x="883920" y="195453"/>
            <a:ext cx="795527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chemeClr val="bg2"/>
                </a:solidFill>
                <a:latin typeface="Aptos"/>
              </a:rPr>
              <a:t>Conclusion &amp; Future Work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8A4AC723-B597-F449-F33C-4836D300AD22}"/>
              </a:ext>
            </a:extLst>
          </p:cNvPr>
          <p:cNvSpPr txBox="1"/>
          <p:nvPr/>
        </p:nvSpPr>
        <p:spPr>
          <a:xfrm>
            <a:off x="1464945" y="65151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11827"/>
                </a:solidFill>
                <a:latin typeface="Aptos"/>
              </a:rPr>
              <a:t>Key conclusions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C55B89E4-6367-32C8-7B7A-112B530DED7C}"/>
              </a:ext>
            </a:extLst>
          </p:cNvPr>
          <p:cNvSpPr txBox="1"/>
          <p:nvPr/>
        </p:nvSpPr>
        <p:spPr>
          <a:xfrm>
            <a:off x="1464945" y="1107567"/>
            <a:ext cx="9107805" cy="96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1F2937"/>
                </a:solidFill>
              </a:defRPr>
            </a:pPr>
            <a:r>
              <a:rPr sz="1200" dirty="0"/>
              <a:t>The project is a Deep Learning + Computer Vision application.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1F2937"/>
                </a:solidFill>
              </a:defRPr>
            </a:pPr>
            <a:r>
              <a:rPr sz="1200" dirty="0"/>
              <a:t>CNNs trained from scratch were less effective on the limited dataset.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1F2937"/>
                </a:solidFill>
              </a:defRPr>
            </a:pPr>
            <a:r>
              <a:rPr sz="1200" dirty="0"/>
              <a:t>Transfer Learning with MobileNetV2 achieved the best generalization.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1F2937"/>
                </a:solidFill>
              </a:defRPr>
            </a:pPr>
            <a:r>
              <a:rPr sz="1200" dirty="0"/>
              <a:t>The final pipeline was integrated into a </a:t>
            </a:r>
            <a:r>
              <a:rPr sz="1200" dirty="0" err="1"/>
              <a:t>Streamlit</a:t>
            </a:r>
            <a:r>
              <a:rPr sz="1200" dirty="0"/>
              <a:t> application.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8EC287C7-0912-F9E9-E33E-DC7A44289D81}"/>
              </a:ext>
            </a:extLst>
          </p:cNvPr>
          <p:cNvSpPr txBox="1"/>
          <p:nvPr/>
        </p:nvSpPr>
        <p:spPr>
          <a:xfrm>
            <a:off x="1464945" y="2286899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11827"/>
                </a:solidFill>
                <a:latin typeface="Aptos"/>
              </a:rPr>
              <a:t>Future work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B648B401-EAFF-FE56-3165-8A1DF841F28F}"/>
              </a:ext>
            </a:extLst>
          </p:cNvPr>
          <p:cNvSpPr txBox="1"/>
          <p:nvPr/>
        </p:nvSpPr>
        <p:spPr>
          <a:xfrm>
            <a:off x="1464945" y="2804827"/>
            <a:ext cx="8329613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1F2937"/>
                </a:solidFill>
              </a:defRPr>
            </a:pPr>
            <a:r>
              <a:rPr sz="1200" dirty="0"/>
              <a:t>Use a larger and cleaner dermatology dataset.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1F2937"/>
                </a:solidFill>
              </a:defRPr>
            </a:pPr>
            <a:r>
              <a:rPr sz="1200" dirty="0"/>
              <a:t>Add more skin disease classes.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1F2937"/>
                </a:solidFill>
              </a:defRPr>
            </a:pPr>
            <a:r>
              <a:rPr sz="1200" dirty="0"/>
              <a:t>Test </a:t>
            </a:r>
            <a:r>
              <a:rPr sz="1200" dirty="0" err="1"/>
              <a:t>EfficientNet</a:t>
            </a:r>
            <a:r>
              <a:rPr sz="1200" dirty="0"/>
              <a:t> or Vision Transformers.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1F2937"/>
                </a:solidFill>
              </a:defRPr>
            </a:pPr>
            <a:r>
              <a:rPr sz="1200" dirty="0"/>
              <a:t>Improve explainability with Grad-CAM.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1F2937"/>
                </a:solidFill>
              </a:defRPr>
            </a:pPr>
            <a:r>
              <a:rPr sz="1200" dirty="0"/>
              <a:t>Deploy the </a:t>
            </a:r>
            <a:r>
              <a:rPr sz="1200" dirty="0" err="1"/>
              <a:t>Streamlit</a:t>
            </a:r>
            <a:r>
              <a:rPr sz="1200" dirty="0"/>
              <a:t> app online.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Hepatitis Clinical Case by Slidesgo">
  <a:themeElements>
    <a:clrScheme name="Simple Light">
      <a:dk1>
        <a:srgbClr val="000000"/>
      </a:dk1>
      <a:lt1>
        <a:srgbClr val="FFFFFF"/>
      </a:lt1>
      <a:dk2>
        <a:srgbClr val="06688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375</Words>
  <Application>Microsoft Office PowerPoint</Application>
  <PresentationFormat>Affichage à l'écran (16:9)</PresentationFormat>
  <Paragraphs>68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5" baseType="lpstr">
      <vt:lpstr>Aptos</vt:lpstr>
      <vt:lpstr>Arial</vt:lpstr>
      <vt:lpstr>DM Serif Display</vt:lpstr>
      <vt:lpstr>Karla</vt:lpstr>
      <vt:lpstr>OpenSymbol</vt:lpstr>
      <vt:lpstr>Symbol</vt:lpstr>
      <vt:lpstr>Wingdings</vt:lpstr>
      <vt:lpstr>Minimalist Hepatitis Clinical Case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guezguez souha</cp:lastModifiedBy>
  <cp:revision>1</cp:revision>
  <dcterms:modified xsi:type="dcterms:W3CDTF">2026-05-21T23:42:11Z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2026-05-21T22:43:15Z</dcterms:created>
  <dc:creator>Unknown Creator</dc:creator>
  <dc:description/>
  <dc:language>en-US</dc:language>
  <cp:lastModifiedBy>Unknown Creator</cp:lastModifiedBy>
  <dcterms:modified xsi:type="dcterms:W3CDTF">2026-05-21T22:43:15Z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